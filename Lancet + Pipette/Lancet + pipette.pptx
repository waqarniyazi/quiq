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305" r:id="rId5"/>
    <p:sldId id="304" r:id="rId6"/>
    <p:sldId id="309" r:id="rId7"/>
    <p:sldId id="30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7"/>
  </p:normalViewPr>
  <p:slideViewPr>
    <p:cSldViewPr snapToGrid="0">
      <p:cViewPr>
        <p:scale>
          <a:sx n="80" d="100"/>
          <a:sy n="80" d="100"/>
        </p:scale>
        <p:origin x="416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F8970-12DE-5145-AB03-9A5F0ED0B65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1802E-F228-AB4E-A155-5591AAD84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81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7905-4827-C188-B774-3C4CFBBCB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32C25-9E3E-91CF-921C-72B7991B5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9C7C3-EA74-E633-DBE1-C7F37AA2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F6B9D-E771-99DC-11DE-F32EC1E5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D494-6025-74C8-6264-0DEBBA09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7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3C94-FA17-724B-C29E-7CB4CFB46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B5902-541C-1EAC-AA52-CAD9D32C1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A5B42-8F9E-BFE4-D191-EC5597E7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1144A-8572-296B-B3FE-77B4A23B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2B198-4022-C6FD-252E-0EEE37D4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5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7CEB-33CF-437D-4CEA-337FDE29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FB940-A634-9C4F-F186-483065C2B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2AEFD-54E3-E1B2-6FE2-9BC4695F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982CB-88C9-E943-A112-6D1A87B5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3318-DE22-0CE6-1EE7-9805F0E3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2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D08B-7B4B-0C12-64ED-C094EBC82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60A8-EFFE-6D0C-4546-BB6547834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DBCB9-9765-B5DE-A7B2-13A40A614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65E32-9D77-D99C-FCC8-9CE52546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D5B3B-F152-F610-F383-3A07DC0B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1A02C-9EFE-91D0-9122-287EF882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3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04CA-3CEE-2C66-D5DE-59E78C18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142DE-CABA-5A90-AC23-5FA9E8A27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014AF-80EF-26E3-DFC9-5E9358EE8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4A7BC-8005-63FD-E364-F6D7C08E3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E06F23-9DDC-51F9-AC94-C81D5B33E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50DDC-8AD4-AE9C-6F48-28D4C125A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991A8-0D6E-499C-DAF9-77EDFE58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E13EC-1BE3-B38F-B2B7-38E9497E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8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53CD-98B9-19C0-9148-D019F789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6838F-932A-2E25-2610-5F90E0A4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B063F-D195-FC0B-B0A9-5DA2E9A9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B7997-E10C-EF76-EBDD-B55AB8FC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9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6BAB2-EE1D-EF14-2615-FF761621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D712-D3B0-71A5-7FA8-5ED214E1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72AF3-16DC-2B4C-0593-F892A0E3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1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DB075-4A04-D094-514B-5E1AEB43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ED45-AABD-882D-E391-302F33415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BFF6E-CC82-B4C4-152E-FC4BCE6CB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068D7-107C-9AA1-9059-3F45A6DA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C574B-E2DE-EF0C-2556-B8430310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7D7AB-3854-808D-BE76-80AABA82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5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EE35-9F28-4243-34EF-AAA6AFD51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807A0-34DD-824E-BC56-B6EF7F8CE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55258-7C11-D41E-7669-2A8E2CCB4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13F2F-183F-3C05-3A87-D95D3080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D27BF-0A4C-39B9-CCF0-4A0BB278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8FA8F-D6CF-C834-929D-37B96B71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5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A267-E378-1938-35EB-78D8B3A8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EFDE5-4337-49F4-6A97-88F9EC1D3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3AA2A-61D6-21C9-0C64-3687709C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8288-2809-836C-BAF1-2E793730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2CEE5-9A9B-F022-1745-5E1DE332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FA29C-80CE-0EDF-FE55-18FB7E2D3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62FA2-11EC-D3EA-8C7B-9A592B223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C42E7-5AE0-2CFC-E3C8-D6D21F1D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417D9-BB48-755E-BFB1-54E42FEF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7CB98-84EF-7984-98DD-EB3D9AF1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4A8A2-443B-39EC-6866-9A863C7FF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1B70B-4272-A276-8E65-CADCD9B20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17753-1B75-07D2-2712-D5922D825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E865C-4776-8848-B7F6-8AB37BAF979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B74D0-1566-EF49-CD38-649DEF2B1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F567B-8784-2B96-5ABE-60C6DCF22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F078F-8FDA-2E42-99C0-72A2598AD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9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hyperlink" Target="https://www.youtube.com/watch?v=ACnvtu4jcIM" TargetMode="Externa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hyperlink" Target="https://mygenteel.com/collections/lancing-devices/products/genteel-exclusive-personal-lancing-dev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dvanced.onlinelibrary.wiley.com/doi/epdf/10.1002/advs.202308809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www.youtube.com/watch?v=0I1n0MIpg-c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www.sciencedirect.com/science/article/abs/pii/S1871402123000279" TargetMode="Externa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www.neoteryx.com/microsampling-devices?__hstc=208984717.82c6adb4ae075bc34a4a1a7669c46ec5.1789989890365.1789989890365.1789997171372.2&amp;__hssc=208984717.1.1789997171372&amp;__hsfp=ed180af73cc573bca76398aa183f2e6b" TargetMode="External"/><Relationship Id="rId7" Type="http://schemas.openxmlformats.org/officeDocument/2006/relationships/image" Target="../media/image20.png"/><Relationship Id="rId2" Type="http://schemas.openxmlformats.org/officeDocument/2006/relationships/hyperlink" Target="https://affimedix.com/wp-content/uploads/2022/07/e-Brochure-TestNOW-Testosterone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218">
            <a:extLst>
              <a:ext uri="{FF2B5EF4-FFF2-40B4-BE49-F238E27FC236}">
                <a16:creationId xmlns:a16="http://schemas.microsoft.com/office/drawing/2014/main" id="{8A70B008-24B6-D287-6B13-56294EE2D6F6}"/>
              </a:ext>
            </a:extLst>
          </p:cNvPr>
          <p:cNvSpPr/>
          <p:nvPr/>
        </p:nvSpPr>
        <p:spPr>
          <a:xfrm>
            <a:off x="6909216" y="3341047"/>
            <a:ext cx="5097905" cy="3398017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01" name="T201"/>
          <p:cNvSpPr txBox="1"/>
          <p:nvPr/>
        </p:nvSpPr>
        <p:spPr>
          <a:xfrm>
            <a:off x="406400" y="228600"/>
            <a:ext cx="8293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</a:rPr>
              <a:t>Lancet: </a:t>
            </a:r>
            <a:r>
              <a:rPr lang="en-US" sz="3600" b="1" dirty="0">
                <a:solidFill>
                  <a:srgbClr val="FFC000"/>
                </a:solidFill>
                <a:latin typeface="+mj-lt"/>
              </a:rPr>
              <a:t>Research</a:t>
            </a:r>
            <a:endParaRPr lang="en-US" sz="2800" b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202" name="T202"/>
          <p:cNvSpPr txBox="1"/>
          <p:nvPr/>
        </p:nvSpPr>
        <p:spPr>
          <a:xfrm>
            <a:off x="406400" y="9144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NEW TECH</a:t>
            </a:r>
          </a:p>
        </p:txBody>
      </p:sp>
      <p:cxnSp>
        <p:nvCxnSpPr>
          <p:cNvPr id="203" name="L203"/>
          <p:cNvCxnSpPr/>
          <p:nvPr/>
        </p:nvCxnSpPr>
        <p:spPr>
          <a:xfrm>
            <a:off x="1905000" y="1028700"/>
            <a:ext cx="40640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04" name="T204"/>
          <p:cNvSpPr txBox="1"/>
          <p:nvPr/>
        </p:nvSpPr>
        <p:spPr>
          <a:xfrm>
            <a:off x="6371382" y="4826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LANCET TYPES</a:t>
            </a:r>
          </a:p>
        </p:txBody>
      </p:sp>
      <p:sp>
        <p:nvSpPr>
          <p:cNvPr id="206" name="B206"/>
          <p:cNvSpPr/>
          <p:nvPr/>
        </p:nvSpPr>
        <p:spPr>
          <a:xfrm>
            <a:off x="406400" y="1270000"/>
            <a:ext cx="5689600" cy="1520534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208" name="T208"/>
          <p:cNvSpPr txBox="1"/>
          <p:nvPr/>
        </p:nvSpPr>
        <p:spPr>
          <a:xfrm>
            <a:off x="2032000" y="1397000"/>
            <a:ext cx="3845026" cy="4521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hlinkClick r:id="rId2"/>
              </a:rPr>
              <a:t>Genteel</a:t>
            </a:r>
            <a:r>
              <a:rPr lang="en-US" sz="1400" dirty="0">
                <a:solidFill>
                  <a:srgbClr val="909090"/>
                </a:solidFill>
                <a:latin typeface="Arial"/>
              </a:rPr>
              <a:t> (USA)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2032000" y="1727200"/>
            <a:ext cx="3845026" cy="7399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Vacuum + vibration, no squeezing. FDA-cleared, reusable.</a:t>
            </a:r>
          </a:p>
        </p:txBody>
      </p:sp>
      <p:sp>
        <p:nvSpPr>
          <p:cNvPr id="210" name="T210"/>
          <p:cNvSpPr txBox="1"/>
          <p:nvPr/>
        </p:nvSpPr>
        <p:spPr>
          <a:xfrm>
            <a:off x="2031999" y="2235200"/>
            <a:ext cx="2468091" cy="3699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  <a:hlinkClick r:id="rId3"/>
              </a:rPr>
              <a:t>WATCH</a:t>
            </a:r>
            <a:endParaRPr lang="en-US" sz="14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211" name="T211"/>
          <p:cNvSpPr txBox="1"/>
          <p:nvPr/>
        </p:nvSpPr>
        <p:spPr>
          <a:xfrm>
            <a:off x="4521199" y="2235200"/>
            <a:ext cx="1298995" cy="3699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  <a:hlinkClick r:id="rId4"/>
              </a:rPr>
              <a:t>Product Rsrch</a:t>
            </a:r>
            <a:endParaRPr lang="en-US" sz="1400" dirty="0">
              <a:solidFill>
                <a:srgbClr val="A8A8A8"/>
              </a:solidFill>
              <a:latin typeface="Arial"/>
            </a:endParaRPr>
          </a:p>
        </p:txBody>
      </p:sp>
      <p:sp>
        <p:nvSpPr>
          <p:cNvPr id="212" name="B212"/>
          <p:cNvSpPr/>
          <p:nvPr/>
        </p:nvSpPr>
        <p:spPr>
          <a:xfrm>
            <a:off x="406400" y="3063921"/>
            <a:ext cx="5689600" cy="1399563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214" name="T214"/>
          <p:cNvSpPr txBox="1"/>
          <p:nvPr/>
        </p:nvSpPr>
        <p:spPr>
          <a:xfrm>
            <a:off x="2032000" y="3190922"/>
            <a:ext cx="3845026" cy="4521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ERBILITE laser</a:t>
            </a:r>
            <a:r>
              <a:rPr lang="en-US" sz="1400" dirty="0">
                <a:solidFill>
                  <a:srgbClr val="909090"/>
                </a:solidFill>
                <a:latin typeface="Arial"/>
              </a:rPr>
              <a:t> (NSL, Moscow)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2032000" y="3521122"/>
            <a:ext cx="3845026" cy="7399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Laser lances the finger. needle-free, 6 depth levels. Clinic device.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2031999" y="4029122"/>
            <a:ext cx="2468091" cy="3699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  <a:hlinkClick r:id="rId5"/>
              </a:rPr>
              <a:t>WATCH</a:t>
            </a:r>
            <a:endParaRPr lang="en-US" sz="1400" b="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218" name="B218"/>
          <p:cNvSpPr/>
          <p:nvPr/>
        </p:nvSpPr>
        <p:spPr>
          <a:xfrm>
            <a:off x="406400" y="4794642"/>
            <a:ext cx="5689600" cy="1529375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20" name="T220"/>
          <p:cNvSpPr txBox="1"/>
          <p:nvPr/>
        </p:nvSpPr>
        <p:spPr>
          <a:xfrm>
            <a:off x="2032000" y="4921643"/>
            <a:ext cx="3845026" cy="4521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Leech-style suction cup</a:t>
            </a:r>
            <a:r>
              <a:rPr lang="en-US" sz="1400" dirty="0">
                <a:solidFill>
                  <a:srgbClr val="909090"/>
                </a:solidFill>
                <a:latin typeface="Arial"/>
              </a:rPr>
              <a:t> (ETH Zurich)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2032000" y="5251843"/>
            <a:ext cx="3845026" cy="7399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Suction + ~12 microneedles, ~195 µL (animal). Seeking partners.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2031999" y="5867418"/>
            <a:ext cx="2468091" cy="3699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INNOVATION CANDIDATE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4521199" y="5867417"/>
            <a:ext cx="1298995" cy="3699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  <a:hlinkClick r:id="rId6"/>
              </a:rPr>
              <a:t>Product </a:t>
            </a:r>
            <a:r>
              <a:rPr lang="en-US" sz="1400" dirty="0" err="1">
                <a:solidFill>
                  <a:srgbClr val="A8A8A8"/>
                </a:solidFill>
                <a:latin typeface="Arial"/>
                <a:hlinkClick r:id="rId6"/>
              </a:rPr>
              <a:t>Rsrch</a:t>
            </a:r>
            <a:endParaRPr lang="en-US" sz="1400" dirty="0">
              <a:solidFill>
                <a:srgbClr val="A8A8A8"/>
              </a:solidFill>
              <a:latin typeface="Arial"/>
            </a:endParaRPr>
          </a:p>
        </p:txBody>
      </p:sp>
      <p:sp>
        <p:nvSpPr>
          <p:cNvPr id="225" name="T225"/>
          <p:cNvSpPr txBox="1"/>
          <p:nvPr/>
        </p:nvSpPr>
        <p:spPr>
          <a:xfrm>
            <a:off x="8699500" y="965872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Pressure-activated</a:t>
            </a:r>
          </a:p>
        </p:txBody>
      </p:sp>
      <p:sp>
        <p:nvSpPr>
          <p:cNvPr id="226" name="T226"/>
          <p:cNvSpPr txBox="1"/>
          <p:nvPr/>
        </p:nvSpPr>
        <p:spPr>
          <a:xfrm>
            <a:off x="8699500" y="1296072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D8D8D8"/>
                </a:solidFill>
                <a:latin typeface="Arial"/>
              </a:rPr>
              <a:t>Press on finger — fires automatically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8699500" y="1778672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Push-button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8699500" y="2108872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D8D8D8"/>
                </a:solidFill>
                <a:latin typeface="Arial"/>
              </a:rPr>
              <a:t>Remove tab, press button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8699500" y="2591472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Side-button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8699500" y="2921672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D8D8D8"/>
                </a:solidFill>
                <a:latin typeface="Arial"/>
              </a:rPr>
              <a:t>Press side trigger — least intuitive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C9AD8E-AD49-7127-EC1A-A72A33CC9E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253" y="1033721"/>
            <a:ext cx="1819892" cy="18097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ECB9CD-654E-98E1-0E5B-8DA5404E74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636" y="3009044"/>
            <a:ext cx="1152579" cy="1329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9BCE5B-1F9E-B3B2-F028-6D05029448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12722" y="4645390"/>
            <a:ext cx="1973167" cy="1529375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1618318A-65F2-4261-E106-422753BBDE79}"/>
              </a:ext>
            </a:extLst>
          </p:cNvPr>
          <p:cNvSpPr/>
          <p:nvPr/>
        </p:nvSpPr>
        <p:spPr>
          <a:xfrm>
            <a:off x="6117108" y="5420416"/>
            <a:ext cx="988229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230893-26B0-F256-60F9-BAD57E5E3D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0184" y="3382705"/>
            <a:ext cx="4875968" cy="3398017"/>
          </a:xfrm>
          <a:prstGeom prst="rect">
            <a:avLst/>
          </a:prstGeom>
        </p:spPr>
      </p:pic>
      <p:sp>
        <p:nvSpPr>
          <p:cNvPr id="12" name="T226">
            <a:extLst>
              <a:ext uri="{FF2B5EF4-FFF2-40B4-BE49-F238E27FC236}">
                <a16:creationId xmlns:a16="http://schemas.microsoft.com/office/drawing/2014/main" id="{79ECD719-BDA9-3C81-1EBA-FC88CAE9D249}"/>
              </a:ext>
            </a:extLst>
          </p:cNvPr>
          <p:cNvSpPr txBox="1"/>
          <p:nvPr/>
        </p:nvSpPr>
        <p:spPr>
          <a:xfrm>
            <a:off x="10169369" y="3989084"/>
            <a:ext cx="1616231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chemeClr val="bg1"/>
                </a:solidFill>
                <a:latin typeface="Arial"/>
              </a:rPr>
              <a:t> Microneedles</a:t>
            </a:r>
          </a:p>
        </p:txBody>
      </p:sp>
      <p:sp>
        <p:nvSpPr>
          <p:cNvPr id="13" name="T226">
            <a:extLst>
              <a:ext uri="{FF2B5EF4-FFF2-40B4-BE49-F238E27FC236}">
                <a16:creationId xmlns:a16="http://schemas.microsoft.com/office/drawing/2014/main" id="{A875D176-CAD6-E227-46ED-2858E853DDBB}"/>
              </a:ext>
            </a:extLst>
          </p:cNvPr>
          <p:cNvSpPr txBox="1"/>
          <p:nvPr/>
        </p:nvSpPr>
        <p:spPr>
          <a:xfrm>
            <a:off x="9147173" y="4911522"/>
            <a:ext cx="1778624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chemeClr val="bg1"/>
                </a:solidFill>
                <a:latin typeface="Arial"/>
              </a:rPr>
              <a:t>Suction Cup</a:t>
            </a:r>
          </a:p>
        </p:txBody>
      </p:sp>
      <p:cxnSp>
        <p:nvCxnSpPr>
          <p:cNvPr id="15" name="L203">
            <a:extLst>
              <a:ext uri="{FF2B5EF4-FFF2-40B4-BE49-F238E27FC236}">
                <a16:creationId xmlns:a16="http://schemas.microsoft.com/office/drawing/2014/main" id="{853EF965-E227-6F5A-3CA4-E3C4742862AB}"/>
              </a:ext>
            </a:extLst>
          </p:cNvPr>
          <p:cNvCxnSpPr>
            <a:cxnSpLocks/>
          </p:cNvCxnSpPr>
          <p:nvPr/>
        </p:nvCxnSpPr>
        <p:spPr>
          <a:xfrm>
            <a:off x="7942499" y="591487"/>
            <a:ext cx="3599927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9F074E3-A5D7-3432-3DE1-1489E91D2E9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701373" y="1396060"/>
            <a:ext cx="1168690" cy="12684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517EDC4-86CE-54E1-E9F1-075948FF8AD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386982" y="254834"/>
            <a:ext cx="1707145" cy="1809740"/>
          </a:xfrm>
          <a:prstGeom prst="rect">
            <a:avLst/>
          </a:prstGeom>
        </p:spPr>
      </p:pic>
      <p:cxnSp>
        <p:nvCxnSpPr>
          <p:cNvPr id="24" name="L203">
            <a:extLst>
              <a:ext uri="{FF2B5EF4-FFF2-40B4-BE49-F238E27FC236}">
                <a16:creationId xmlns:a16="http://schemas.microsoft.com/office/drawing/2014/main" id="{C3254945-EB28-2431-168E-08C7BF4445EB}"/>
              </a:ext>
            </a:extLst>
          </p:cNvPr>
          <p:cNvCxnSpPr>
            <a:cxnSpLocks/>
          </p:cNvCxnSpPr>
          <p:nvPr/>
        </p:nvCxnSpPr>
        <p:spPr>
          <a:xfrm>
            <a:off x="6445984" y="1628302"/>
            <a:ext cx="5216364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cxnSp>
        <p:nvCxnSpPr>
          <p:cNvPr id="30" name="L203">
            <a:extLst>
              <a:ext uri="{FF2B5EF4-FFF2-40B4-BE49-F238E27FC236}">
                <a16:creationId xmlns:a16="http://schemas.microsoft.com/office/drawing/2014/main" id="{B59F0463-4FE5-0414-20F0-4298DB5E04AC}"/>
              </a:ext>
            </a:extLst>
          </p:cNvPr>
          <p:cNvCxnSpPr>
            <a:cxnSpLocks/>
          </p:cNvCxnSpPr>
          <p:nvPr/>
        </p:nvCxnSpPr>
        <p:spPr>
          <a:xfrm>
            <a:off x="6445984" y="2467104"/>
            <a:ext cx="5216364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F992A9D5-E132-45BA-5799-CFAF30BEA25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773809" y="2206239"/>
            <a:ext cx="996949" cy="132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1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201"/>
          <p:cNvSpPr txBox="1"/>
          <p:nvPr/>
        </p:nvSpPr>
        <p:spPr>
          <a:xfrm>
            <a:off x="406400" y="228600"/>
            <a:ext cx="8293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+mj-lt"/>
              </a:rPr>
              <a:t>Lancet: </a:t>
            </a:r>
            <a:r>
              <a:rPr lang="en-US" sz="3200" b="1" dirty="0">
                <a:solidFill>
                  <a:srgbClr val="FFC000"/>
                </a:solidFill>
                <a:latin typeface="+mj-lt"/>
              </a:rPr>
              <a:t>Top Contenders</a:t>
            </a:r>
          </a:p>
        </p:txBody>
      </p:sp>
      <p:sp>
        <p:nvSpPr>
          <p:cNvPr id="202" name="B202"/>
          <p:cNvSpPr/>
          <p:nvPr/>
        </p:nvSpPr>
        <p:spPr>
          <a:xfrm>
            <a:off x="406400" y="863600"/>
            <a:ext cx="2133600" cy="381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T203"/>
          <p:cNvSpPr txBox="1"/>
          <p:nvPr/>
        </p:nvSpPr>
        <p:spPr>
          <a:xfrm>
            <a:off x="406400" y="9652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30G × 1.8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406400" y="12954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dirty="0">
                <a:solidFill>
                  <a:srgbClr val="909090"/>
                </a:solidFill>
                <a:latin typeface="Arial"/>
              </a:rPr>
              <a:t>lowest pain</a:t>
            </a:r>
          </a:p>
        </p:txBody>
      </p:sp>
      <p:sp>
        <p:nvSpPr>
          <p:cNvPr id="205" name="B205"/>
          <p:cNvSpPr/>
          <p:nvPr/>
        </p:nvSpPr>
        <p:spPr>
          <a:xfrm>
            <a:off x="2717800" y="863600"/>
            <a:ext cx="2133600" cy="381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9050">
            <a:solidFill>
              <a:schemeClr val="bg1"/>
            </a:solidFill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6" name="T206"/>
          <p:cNvSpPr txBox="1"/>
          <p:nvPr/>
        </p:nvSpPr>
        <p:spPr>
          <a:xfrm>
            <a:off x="2717800" y="9652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/>
              </a:rPr>
              <a:t>28G × 1.8</a:t>
            </a:r>
          </a:p>
        </p:txBody>
      </p:sp>
      <p:sp>
        <p:nvSpPr>
          <p:cNvPr id="208" name="B208"/>
          <p:cNvSpPr/>
          <p:nvPr/>
        </p:nvSpPr>
        <p:spPr>
          <a:xfrm>
            <a:off x="5029200" y="863600"/>
            <a:ext cx="2133600" cy="381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T209"/>
          <p:cNvSpPr txBox="1"/>
          <p:nvPr/>
        </p:nvSpPr>
        <p:spPr>
          <a:xfrm>
            <a:off x="5029200" y="9652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26G × 1.8</a:t>
            </a:r>
          </a:p>
        </p:txBody>
      </p:sp>
      <p:sp>
        <p:nvSpPr>
          <p:cNvPr id="210" name="B210"/>
          <p:cNvSpPr/>
          <p:nvPr/>
        </p:nvSpPr>
        <p:spPr>
          <a:xfrm>
            <a:off x="7340600" y="863600"/>
            <a:ext cx="2133600" cy="381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T211"/>
          <p:cNvSpPr txBox="1"/>
          <p:nvPr/>
        </p:nvSpPr>
        <p:spPr>
          <a:xfrm>
            <a:off x="7340600" y="9652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23G</a:t>
            </a:r>
          </a:p>
        </p:txBody>
      </p:sp>
      <p:sp>
        <p:nvSpPr>
          <p:cNvPr id="212" name="B212"/>
          <p:cNvSpPr/>
          <p:nvPr/>
        </p:nvSpPr>
        <p:spPr>
          <a:xfrm>
            <a:off x="9652000" y="863600"/>
            <a:ext cx="2133600" cy="381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3" name="T213"/>
          <p:cNvSpPr txBox="1"/>
          <p:nvPr/>
        </p:nvSpPr>
        <p:spPr>
          <a:xfrm>
            <a:off x="9652000" y="9652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21G × 2.0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9652000" y="12954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dirty="0">
                <a:solidFill>
                  <a:srgbClr val="909090"/>
                </a:solidFill>
                <a:latin typeface="Arial"/>
              </a:rPr>
              <a:t>most blood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406400" y="22606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Maker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406400" y="28956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Gauge × depth</a:t>
            </a:r>
          </a:p>
        </p:txBody>
      </p:sp>
      <p:sp>
        <p:nvSpPr>
          <p:cNvPr id="217" name="T217"/>
          <p:cNvSpPr txBox="1"/>
          <p:nvPr/>
        </p:nvSpPr>
        <p:spPr>
          <a:xfrm>
            <a:off x="406400" y="33274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Activation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406400" y="37592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Est. price/pc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406400" y="42164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Product photo</a:t>
            </a:r>
          </a:p>
        </p:txBody>
      </p:sp>
      <p:cxnSp>
        <p:nvCxnSpPr>
          <p:cNvPr id="221" name="L221"/>
          <p:cNvCxnSpPr/>
          <p:nvPr/>
        </p:nvCxnSpPr>
        <p:spPr>
          <a:xfrm>
            <a:off x="406400" y="2794000"/>
            <a:ext cx="11379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cxnSp>
        <p:nvCxnSpPr>
          <p:cNvPr id="222" name="L222"/>
          <p:cNvCxnSpPr/>
          <p:nvPr/>
        </p:nvCxnSpPr>
        <p:spPr>
          <a:xfrm>
            <a:off x="406400" y="4114800"/>
            <a:ext cx="113792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cxnSp>
      <p:sp>
        <p:nvSpPr>
          <p:cNvPr id="224" name="T224"/>
          <p:cNvSpPr txBox="1"/>
          <p:nvPr/>
        </p:nvSpPr>
        <p:spPr>
          <a:xfrm>
            <a:off x="2311400" y="1651000"/>
            <a:ext cx="22352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Unistik 3 Extra</a:t>
            </a:r>
          </a:p>
        </p:txBody>
      </p:sp>
      <p:sp>
        <p:nvSpPr>
          <p:cNvPr id="225" name="T225"/>
          <p:cNvSpPr txBox="1"/>
          <p:nvPr/>
        </p:nvSpPr>
        <p:spPr>
          <a:xfrm>
            <a:off x="2311400" y="2260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909090"/>
                </a:solidFill>
                <a:latin typeface="Arial"/>
              </a:rPr>
              <a:t>Owen Mumford, UK</a:t>
            </a:r>
          </a:p>
        </p:txBody>
      </p:sp>
      <p:sp>
        <p:nvSpPr>
          <p:cNvPr id="226" name="T226"/>
          <p:cNvSpPr txBox="1"/>
          <p:nvPr/>
        </p:nvSpPr>
        <p:spPr>
          <a:xfrm>
            <a:off x="2311400" y="2514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dsmedical.co.uk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2311400" y="28956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21G × 2.0 mm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2311400" y="33274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Side button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2311400" y="37592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₹11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4673600" y="1651000"/>
            <a:ext cx="22352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Accu-Chek Safe-T-Pro Uno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4673600" y="2260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909090"/>
                </a:solidFill>
                <a:latin typeface="Arial"/>
              </a:rPr>
              <a:t>Roche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4673600" y="2514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apollopharmacy.in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4673600" y="28956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pre-set 1.5 mm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4673600" y="33274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Push button</a:t>
            </a:r>
          </a:p>
        </p:txBody>
      </p:sp>
      <p:sp>
        <p:nvSpPr>
          <p:cNvPr id="237" name="T237"/>
          <p:cNvSpPr txBox="1"/>
          <p:nvPr/>
        </p:nvSpPr>
        <p:spPr>
          <a:xfrm>
            <a:off x="4673600" y="37592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₹5–9 (est.)</a:t>
            </a:r>
          </a:p>
        </p:txBody>
      </p:sp>
      <p:sp>
        <p:nvSpPr>
          <p:cNvPr id="240" name="T240"/>
          <p:cNvSpPr txBox="1"/>
          <p:nvPr/>
        </p:nvSpPr>
        <p:spPr>
          <a:xfrm>
            <a:off x="7035800" y="1651000"/>
            <a:ext cx="22352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Accu-Chek Safe-T-Pro Plus</a:t>
            </a:r>
          </a:p>
        </p:txBody>
      </p:sp>
      <p:sp>
        <p:nvSpPr>
          <p:cNvPr id="241" name="T241"/>
          <p:cNvSpPr txBox="1"/>
          <p:nvPr/>
        </p:nvSpPr>
        <p:spPr>
          <a:xfrm>
            <a:off x="7035800" y="2260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909090"/>
                </a:solidFill>
                <a:latin typeface="Arial"/>
              </a:rPr>
              <a:t>Roche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7035800" y="2514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midmeds.co.uk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7035800" y="28956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23G, 1.3 / 1.8 / 2.3 mm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7035800" y="33274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Push button, adjustable</a:t>
            </a:r>
          </a:p>
        </p:txBody>
      </p:sp>
      <p:sp>
        <p:nvSpPr>
          <p:cNvPr id="245" name="T245"/>
          <p:cNvSpPr txBox="1"/>
          <p:nvPr/>
        </p:nvSpPr>
        <p:spPr>
          <a:xfrm>
            <a:off x="7035800" y="37592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₹15–25 (est.)</a:t>
            </a:r>
          </a:p>
        </p:txBody>
      </p:sp>
      <p:sp>
        <p:nvSpPr>
          <p:cNvPr id="248" name="T248"/>
          <p:cNvSpPr txBox="1"/>
          <p:nvPr/>
        </p:nvSpPr>
        <p:spPr>
          <a:xfrm>
            <a:off x="9398000" y="1651000"/>
            <a:ext cx="22352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C000"/>
                </a:solidFill>
                <a:latin typeface="Arial"/>
              </a:rPr>
              <a:t>SteriLance  NEW</a:t>
            </a:r>
          </a:p>
        </p:txBody>
      </p:sp>
      <p:sp>
        <p:nvSpPr>
          <p:cNvPr id="249" name="T249"/>
          <p:cNvSpPr txBox="1"/>
          <p:nvPr/>
        </p:nvSpPr>
        <p:spPr>
          <a:xfrm>
            <a:off x="9398000" y="2260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909090"/>
                </a:solidFill>
                <a:latin typeface="Arial"/>
              </a:rPr>
              <a:t>SteriLance, China (OEM)</a:t>
            </a:r>
          </a:p>
        </p:txBody>
      </p:sp>
      <p:sp>
        <p:nvSpPr>
          <p:cNvPr id="250" name="T250"/>
          <p:cNvSpPr txBox="1"/>
          <p:nvPr/>
        </p:nvSpPr>
        <p:spPr>
          <a:xfrm>
            <a:off x="9398000" y="2514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en.sterilance.com</a:t>
            </a:r>
          </a:p>
        </p:txBody>
      </p:sp>
      <p:sp>
        <p:nvSpPr>
          <p:cNvPr id="251" name="T251"/>
          <p:cNvSpPr txBox="1"/>
          <p:nvPr/>
        </p:nvSpPr>
        <p:spPr>
          <a:xfrm>
            <a:off x="9398000" y="28956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23–30G × 1.8 mm</a:t>
            </a:r>
          </a:p>
        </p:txBody>
      </p:sp>
      <p:sp>
        <p:nvSpPr>
          <p:cNvPr id="252" name="T252"/>
          <p:cNvSpPr txBox="1"/>
          <p:nvPr/>
        </p:nvSpPr>
        <p:spPr>
          <a:xfrm>
            <a:off x="9398000" y="33274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Pressure + button</a:t>
            </a:r>
          </a:p>
        </p:txBody>
      </p:sp>
      <p:sp>
        <p:nvSpPr>
          <p:cNvPr id="253" name="T253"/>
          <p:cNvSpPr txBox="1"/>
          <p:nvPr/>
        </p:nvSpPr>
        <p:spPr>
          <a:xfrm>
            <a:off x="9398000" y="3759200"/>
            <a:ext cx="2235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₹3–6 (est.)</a:t>
            </a:r>
          </a:p>
        </p:txBody>
      </p:sp>
      <p:cxnSp>
        <p:nvCxnSpPr>
          <p:cNvPr id="258" name="L258"/>
          <p:cNvCxnSpPr/>
          <p:nvPr/>
        </p:nvCxnSpPr>
        <p:spPr>
          <a:xfrm>
            <a:off x="406400" y="6146800"/>
            <a:ext cx="11379200" cy="0"/>
          </a:xfrm>
          <a:prstGeom prst="line">
            <a:avLst/>
          </a:prstGeom>
          <a:ln w="9525">
            <a:solidFill>
              <a:srgbClr val="FFC000"/>
            </a:solidFill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428A397-7D5F-7F7A-8F23-909DFECCC6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84400" y="3581400"/>
            <a:ext cx="2139868" cy="28531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43B4E6-D0EE-586D-B217-AAECF2203F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90865" y="3621374"/>
            <a:ext cx="2592008" cy="28131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D706CF-3143-2826-BA81-4E2661DBC0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99250" y="3378201"/>
            <a:ext cx="2571750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3D460B-B175-446F-FC76-7FF63CBC7F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035523" y="4216400"/>
            <a:ext cx="2865726" cy="175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7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232">
            <a:extLst>
              <a:ext uri="{FF2B5EF4-FFF2-40B4-BE49-F238E27FC236}">
                <a16:creationId xmlns:a16="http://schemas.microsoft.com/office/drawing/2014/main" id="{DE47427A-CD5D-DDF0-8AC9-BD0E5196D03D}"/>
              </a:ext>
            </a:extLst>
          </p:cNvPr>
          <p:cNvSpPr/>
          <p:nvPr/>
        </p:nvSpPr>
        <p:spPr>
          <a:xfrm>
            <a:off x="3309616" y="1664707"/>
            <a:ext cx="2692400" cy="1905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B232">
            <a:extLst>
              <a:ext uri="{FF2B5EF4-FFF2-40B4-BE49-F238E27FC236}">
                <a16:creationId xmlns:a16="http://schemas.microsoft.com/office/drawing/2014/main" id="{34080E7B-C41C-5651-971E-2D55FA546167}"/>
              </a:ext>
            </a:extLst>
          </p:cNvPr>
          <p:cNvSpPr/>
          <p:nvPr/>
        </p:nvSpPr>
        <p:spPr>
          <a:xfrm>
            <a:off x="3295650" y="3771333"/>
            <a:ext cx="2692400" cy="1905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" name="T201"/>
          <p:cNvSpPr txBox="1"/>
          <p:nvPr/>
        </p:nvSpPr>
        <p:spPr>
          <a:xfrm>
            <a:off x="406400" y="288909"/>
            <a:ext cx="8293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+mj-lt"/>
              </a:rPr>
              <a:t>Blood Transfer: </a:t>
            </a:r>
            <a:r>
              <a:rPr lang="en-US" sz="3600" b="1" dirty="0">
                <a:solidFill>
                  <a:srgbClr val="FFC000"/>
                </a:solidFill>
                <a:latin typeface="+mj-lt"/>
              </a:rPr>
              <a:t>7 Device Types</a:t>
            </a:r>
          </a:p>
        </p:txBody>
      </p:sp>
      <p:sp>
        <p:nvSpPr>
          <p:cNvPr id="202" name="B202"/>
          <p:cNvSpPr/>
          <p:nvPr/>
        </p:nvSpPr>
        <p:spPr>
          <a:xfrm>
            <a:off x="400050" y="1679337"/>
            <a:ext cx="2692400" cy="1905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" name="T204"/>
          <p:cNvSpPr txBox="1"/>
          <p:nvPr/>
        </p:nvSpPr>
        <p:spPr>
          <a:xfrm>
            <a:off x="552450" y="2669937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Squeezable pipette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552450" y="2949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Manual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552450" y="3203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User controls volume</a:t>
            </a:r>
          </a:p>
        </p:txBody>
      </p:sp>
      <p:sp>
        <p:nvSpPr>
          <p:cNvPr id="207" name="B207"/>
          <p:cNvSpPr/>
          <p:nvPr/>
        </p:nvSpPr>
        <p:spPr>
          <a:xfrm>
            <a:off x="3337705" y="1702487"/>
            <a:ext cx="2597150" cy="1857351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9" name="T209"/>
          <p:cNvSpPr txBox="1"/>
          <p:nvPr/>
        </p:nvSpPr>
        <p:spPr>
          <a:xfrm>
            <a:off x="3448050" y="2669937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Inverted cup</a:t>
            </a:r>
          </a:p>
        </p:txBody>
      </p:sp>
      <p:sp>
        <p:nvSpPr>
          <p:cNvPr id="210" name="T210"/>
          <p:cNvSpPr txBox="1"/>
          <p:nvPr/>
        </p:nvSpPr>
        <p:spPr>
          <a:xfrm>
            <a:off x="3448050" y="2949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Automatic</a:t>
            </a:r>
          </a:p>
        </p:txBody>
      </p:sp>
      <p:sp>
        <p:nvSpPr>
          <p:cNvPr id="211" name="T211"/>
          <p:cNvSpPr txBox="1"/>
          <p:nvPr/>
        </p:nvSpPr>
        <p:spPr>
          <a:xfrm>
            <a:off x="3448050" y="3203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5 µL, 170M+ in malaria kits</a:t>
            </a:r>
          </a:p>
        </p:txBody>
      </p:sp>
      <p:sp>
        <p:nvSpPr>
          <p:cNvPr id="212" name="B212"/>
          <p:cNvSpPr/>
          <p:nvPr/>
        </p:nvSpPr>
        <p:spPr>
          <a:xfrm>
            <a:off x="6191250" y="1679337"/>
            <a:ext cx="2692400" cy="1905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4" name="T214"/>
          <p:cNvSpPr txBox="1"/>
          <p:nvPr/>
        </p:nvSpPr>
        <p:spPr>
          <a:xfrm>
            <a:off x="6343650" y="2669937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Calibrated pipette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6343650" y="2949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C9C9C9"/>
                </a:solidFill>
                <a:latin typeface="Arial"/>
              </a:rPr>
              <a:t>Semi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6343650" y="3203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Fill to the mark</a:t>
            </a:r>
          </a:p>
        </p:txBody>
      </p:sp>
      <p:sp>
        <p:nvSpPr>
          <p:cNvPr id="217" name="B217"/>
          <p:cNvSpPr/>
          <p:nvPr/>
        </p:nvSpPr>
        <p:spPr>
          <a:xfrm>
            <a:off x="9086850" y="1679337"/>
            <a:ext cx="2692400" cy="1905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T219"/>
          <p:cNvSpPr txBox="1"/>
          <p:nvPr/>
        </p:nvSpPr>
        <p:spPr>
          <a:xfrm>
            <a:off x="9239250" y="2669937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Capillary tube</a:t>
            </a:r>
          </a:p>
        </p:txBody>
      </p:sp>
      <p:sp>
        <p:nvSpPr>
          <p:cNvPr id="220" name="T220"/>
          <p:cNvSpPr txBox="1"/>
          <p:nvPr/>
        </p:nvSpPr>
        <p:spPr>
          <a:xfrm>
            <a:off x="9239250" y="2949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C9C9C9"/>
                </a:solidFill>
                <a:latin typeface="Arial"/>
              </a:rPr>
              <a:t>Semi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9239250" y="32033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Users underfill</a:t>
            </a:r>
          </a:p>
        </p:txBody>
      </p:sp>
      <p:sp>
        <p:nvSpPr>
          <p:cNvPr id="222" name="B222"/>
          <p:cNvSpPr/>
          <p:nvPr/>
        </p:nvSpPr>
        <p:spPr>
          <a:xfrm>
            <a:off x="400050" y="3762137"/>
            <a:ext cx="2692400" cy="1905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4" name="T224"/>
          <p:cNvSpPr txBox="1"/>
          <p:nvPr/>
        </p:nvSpPr>
        <p:spPr>
          <a:xfrm>
            <a:off x="552450" y="4752737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Straw</a:t>
            </a:r>
          </a:p>
        </p:txBody>
      </p:sp>
      <p:sp>
        <p:nvSpPr>
          <p:cNvPr id="225" name="T225"/>
          <p:cNvSpPr txBox="1"/>
          <p:nvPr/>
        </p:nvSpPr>
        <p:spPr>
          <a:xfrm>
            <a:off x="552450" y="50321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Manual</a:t>
            </a:r>
          </a:p>
        </p:txBody>
      </p:sp>
      <p:sp>
        <p:nvSpPr>
          <p:cNvPr id="226" name="T226"/>
          <p:cNvSpPr txBox="1"/>
          <p:nvPr/>
        </p:nvSpPr>
        <p:spPr>
          <a:xfrm>
            <a:off x="552450" y="52861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Draw and blow out</a:t>
            </a:r>
          </a:p>
        </p:txBody>
      </p:sp>
      <p:sp>
        <p:nvSpPr>
          <p:cNvPr id="227" name="B227"/>
          <p:cNvSpPr/>
          <p:nvPr/>
        </p:nvSpPr>
        <p:spPr>
          <a:xfrm>
            <a:off x="3326130" y="3811007"/>
            <a:ext cx="2621280" cy="1815489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9" name="T229"/>
          <p:cNvSpPr txBox="1"/>
          <p:nvPr/>
        </p:nvSpPr>
        <p:spPr>
          <a:xfrm>
            <a:off x="3448050" y="4752737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Loop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3448050" y="50321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909090"/>
                </a:solidFill>
                <a:latin typeface="Arial"/>
              </a:rPr>
              <a:t>Manual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3458210" y="52861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Picks up a droplet</a:t>
            </a:r>
          </a:p>
        </p:txBody>
      </p:sp>
      <p:sp>
        <p:nvSpPr>
          <p:cNvPr id="232" name="B232"/>
          <p:cNvSpPr/>
          <p:nvPr/>
        </p:nvSpPr>
        <p:spPr>
          <a:xfrm>
            <a:off x="6191250" y="3762137"/>
            <a:ext cx="2692400" cy="1905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4" name="T234"/>
          <p:cNvSpPr txBox="1"/>
          <p:nvPr/>
        </p:nvSpPr>
        <p:spPr>
          <a:xfrm>
            <a:off x="6343650" y="4752737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Conical cup</a:t>
            </a:r>
            <a:r>
              <a:rPr lang="en-US" sz="1400" b="1" dirty="0">
                <a:solidFill>
                  <a:srgbClr val="FFC000"/>
                </a:solidFill>
                <a:latin typeface="Arial"/>
              </a:rPr>
              <a:t>  TOP</a:t>
            </a:r>
          </a:p>
        </p:txBody>
      </p:sp>
      <p:sp>
        <p:nvSpPr>
          <p:cNvPr id="235" name="T235"/>
          <p:cNvSpPr txBox="1"/>
          <p:nvPr/>
        </p:nvSpPr>
        <p:spPr>
          <a:xfrm>
            <a:off x="6343650" y="50321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Automatic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6343650" y="5286137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~23 µL, 92% vs 74% fill</a:t>
            </a:r>
          </a:p>
        </p:txBody>
      </p:sp>
      <p:sp>
        <p:nvSpPr>
          <p:cNvPr id="238" name="T238"/>
          <p:cNvSpPr txBox="1"/>
          <p:nvPr/>
        </p:nvSpPr>
        <p:spPr>
          <a:xfrm>
            <a:off x="9086850" y="4600337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dirty="0">
                <a:solidFill>
                  <a:srgbClr val="909090"/>
                </a:solidFill>
                <a:latin typeface="Arial"/>
              </a:rPr>
              <a:t>space for photos</a:t>
            </a:r>
          </a:p>
        </p:txBody>
      </p:sp>
      <p:cxnSp>
        <p:nvCxnSpPr>
          <p:cNvPr id="239" name="L239"/>
          <p:cNvCxnSpPr/>
          <p:nvPr/>
        </p:nvCxnSpPr>
        <p:spPr>
          <a:xfrm>
            <a:off x="406400" y="6465890"/>
            <a:ext cx="11379200" cy="0"/>
          </a:xfrm>
          <a:prstGeom prst="line">
            <a:avLst/>
          </a:prstGeom>
          <a:ln w="9525">
            <a:solidFill>
              <a:srgbClr val="FFC000"/>
            </a:solidFill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1450FCC-05D7-0DEB-40AC-DB9FB0886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69" y="1806337"/>
            <a:ext cx="3064131" cy="6667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16FB0E-F912-6F68-94F8-7E395A99E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416" y="1773986"/>
            <a:ext cx="3166119" cy="608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72BD68-CF12-D8A3-CCEE-BCEBEEBF5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850" y="1624565"/>
            <a:ext cx="2772410" cy="939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977A49-9FA0-5D00-2DA8-4BB2161782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85378" y="1820187"/>
            <a:ext cx="2997072" cy="5162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6C14E0-4AD3-4D5A-42FB-283A0A2221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3611" y="3959450"/>
            <a:ext cx="3062839" cy="5900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A71E5-DCAF-C413-C446-88AD4F3C46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181479" y="3993603"/>
            <a:ext cx="2908171" cy="463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135C43-3682-8D12-021F-31A52B3C5B8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142624" y="3012847"/>
            <a:ext cx="4096626" cy="24508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392472-744B-6257-E7E7-A5F75DF8CE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850" y="3713495"/>
            <a:ext cx="2813176" cy="1953642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82A5E0C3-03EE-0100-D5F3-C0A614C3F476}"/>
              </a:ext>
            </a:extLst>
          </p:cNvPr>
          <p:cNvSpPr/>
          <p:nvPr/>
        </p:nvSpPr>
        <p:spPr>
          <a:xfrm>
            <a:off x="8811260" y="4549537"/>
            <a:ext cx="427990" cy="3048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201"/>
          <p:cNvSpPr txBox="1"/>
          <p:nvPr/>
        </p:nvSpPr>
        <p:spPr>
          <a:xfrm>
            <a:off x="406400" y="228600"/>
            <a:ext cx="82931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+mj-lt"/>
              </a:rPr>
              <a:t>Pipette: </a:t>
            </a:r>
            <a:r>
              <a:rPr lang="en-US" sz="3600" b="1" dirty="0">
                <a:solidFill>
                  <a:srgbClr val="FFC000"/>
                </a:solidFill>
                <a:latin typeface="+mj-lt"/>
              </a:rPr>
              <a:t>Top Contenders</a:t>
            </a:r>
          </a:p>
        </p:txBody>
      </p:sp>
      <p:sp>
        <p:nvSpPr>
          <p:cNvPr id="202" name="B202"/>
          <p:cNvSpPr/>
          <p:nvPr/>
        </p:nvSpPr>
        <p:spPr>
          <a:xfrm>
            <a:off x="358273" y="1360250"/>
            <a:ext cx="2133600" cy="4267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T203"/>
          <p:cNvSpPr txBox="1"/>
          <p:nvPr/>
        </p:nvSpPr>
        <p:spPr>
          <a:xfrm>
            <a:off x="510673" y="14872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01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510673" y="1741250"/>
            <a:ext cx="18288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Conical Cup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510673" y="23254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FIND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510673" y="4408250"/>
            <a:ext cx="18288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~23 µL capillary</a:t>
            </a:r>
          </a:p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Touch-to-fill</a:t>
            </a:r>
          </a:p>
        </p:txBody>
      </p:sp>
      <p:sp>
        <p:nvSpPr>
          <p:cNvPr id="208" name="T208"/>
          <p:cNvSpPr txBox="1"/>
          <p:nvPr/>
        </p:nvSpPr>
        <p:spPr>
          <a:xfrm>
            <a:off x="510673" y="50940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pmc.ncbi.nlm.nih.gov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510673" y="534805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NEW</a:t>
            </a:r>
          </a:p>
        </p:txBody>
      </p:sp>
      <p:sp>
        <p:nvSpPr>
          <p:cNvPr id="210" name="B210"/>
          <p:cNvSpPr/>
          <p:nvPr/>
        </p:nvSpPr>
        <p:spPr>
          <a:xfrm>
            <a:off x="2669673" y="1360250"/>
            <a:ext cx="2133600" cy="4267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T211"/>
          <p:cNvSpPr txBox="1"/>
          <p:nvPr/>
        </p:nvSpPr>
        <p:spPr>
          <a:xfrm>
            <a:off x="2822073" y="14872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02</a:t>
            </a:r>
          </a:p>
        </p:txBody>
      </p:sp>
      <p:sp>
        <p:nvSpPr>
          <p:cNvPr id="212" name="T212"/>
          <p:cNvSpPr txBox="1"/>
          <p:nvPr/>
        </p:nvSpPr>
        <p:spPr>
          <a:xfrm>
            <a:off x="2822073" y="1741250"/>
            <a:ext cx="18288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UniSampler-type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2822073" y="23254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Affimedix / generics</a:t>
            </a:r>
          </a:p>
        </p:txBody>
      </p:sp>
      <p:sp>
        <p:nvSpPr>
          <p:cNvPr id="215" name="T215"/>
          <p:cNvSpPr txBox="1"/>
          <p:nvPr/>
        </p:nvSpPr>
        <p:spPr>
          <a:xfrm>
            <a:off x="2822073" y="4408250"/>
            <a:ext cx="18288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Fixed volume</a:t>
            </a:r>
          </a:p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Locks into vial</a:t>
            </a:r>
          </a:p>
        </p:txBody>
      </p:sp>
      <p:sp>
        <p:nvSpPr>
          <p:cNvPr id="216" name="T216"/>
          <p:cNvSpPr txBox="1"/>
          <p:nvPr/>
        </p:nvSpPr>
        <p:spPr>
          <a:xfrm>
            <a:off x="2822073" y="50940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 err="1">
                <a:solidFill>
                  <a:srgbClr val="A8A8A8"/>
                </a:solidFill>
                <a:latin typeface="Arial"/>
                <a:hlinkClick r:id="rId2"/>
              </a:rPr>
              <a:t>Affimedix</a:t>
            </a:r>
            <a:endParaRPr lang="en-US" sz="1400" dirty="0">
              <a:solidFill>
                <a:srgbClr val="A8A8A8"/>
              </a:solidFill>
              <a:latin typeface="Arial"/>
            </a:endParaRPr>
          </a:p>
        </p:txBody>
      </p:sp>
      <p:sp>
        <p:nvSpPr>
          <p:cNvPr id="217" name="T217"/>
          <p:cNvSpPr txBox="1"/>
          <p:nvPr/>
        </p:nvSpPr>
        <p:spPr>
          <a:xfrm>
            <a:off x="2822073" y="534805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LAUNCH</a:t>
            </a:r>
          </a:p>
        </p:txBody>
      </p:sp>
      <p:sp>
        <p:nvSpPr>
          <p:cNvPr id="218" name="B218"/>
          <p:cNvSpPr/>
          <p:nvPr/>
        </p:nvSpPr>
        <p:spPr>
          <a:xfrm>
            <a:off x="4981073" y="1360250"/>
            <a:ext cx="2133600" cy="4267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9" name="T219"/>
          <p:cNvSpPr txBox="1"/>
          <p:nvPr/>
        </p:nvSpPr>
        <p:spPr>
          <a:xfrm>
            <a:off x="5133473" y="14872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03</a:t>
            </a:r>
          </a:p>
        </p:txBody>
      </p:sp>
      <p:sp>
        <p:nvSpPr>
          <p:cNvPr id="220" name="T220"/>
          <p:cNvSpPr txBox="1"/>
          <p:nvPr/>
        </p:nvSpPr>
        <p:spPr>
          <a:xfrm>
            <a:off x="5133473" y="1741250"/>
            <a:ext cx="18288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Minivette POCT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5133473" y="23254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Sarstedt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5133473" y="4408250"/>
            <a:ext cx="18288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10–200 µL</a:t>
            </a:r>
          </a:p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Piston + stop filter</a:t>
            </a:r>
          </a:p>
        </p:txBody>
      </p:sp>
      <p:sp>
        <p:nvSpPr>
          <p:cNvPr id="224" name="T224"/>
          <p:cNvSpPr txBox="1"/>
          <p:nvPr/>
        </p:nvSpPr>
        <p:spPr>
          <a:xfrm>
            <a:off x="5133473" y="50940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sarstedt.com</a:t>
            </a:r>
          </a:p>
        </p:txBody>
      </p:sp>
      <p:sp>
        <p:nvSpPr>
          <p:cNvPr id="225" name="T225"/>
          <p:cNvSpPr txBox="1"/>
          <p:nvPr/>
        </p:nvSpPr>
        <p:spPr>
          <a:xfrm>
            <a:off x="5133473" y="534805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C9C9C9"/>
                </a:solidFill>
                <a:latin typeface="Arial"/>
              </a:rPr>
              <a:t>BENCHMARK</a:t>
            </a:r>
          </a:p>
        </p:txBody>
      </p:sp>
      <p:sp>
        <p:nvSpPr>
          <p:cNvPr id="226" name="B226"/>
          <p:cNvSpPr/>
          <p:nvPr/>
        </p:nvSpPr>
        <p:spPr>
          <a:xfrm>
            <a:off x="7292473" y="1360250"/>
            <a:ext cx="2133600" cy="4267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7" name="T227"/>
          <p:cNvSpPr txBox="1"/>
          <p:nvPr/>
        </p:nvSpPr>
        <p:spPr>
          <a:xfrm>
            <a:off x="7444873" y="14872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04</a:t>
            </a:r>
          </a:p>
        </p:txBody>
      </p:sp>
      <p:sp>
        <p:nvSpPr>
          <p:cNvPr id="228" name="T228"/>
          <p:cNvSpPr txBox="1"/>
          <p:nvPr/>
        </p:nvSpPr>
        <p:spPr>
          <a:xfrm>
            <a:off x="7444873" y="1741250"/>
            <a:ext cx="18288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Microsafe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7444873" y="23254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Safe-Tec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7444873" y="4408250"/>
            <a:ext cx="18288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Fixed volume</a:t>
            </a:r>
          </a:p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One-piece, drop-free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7444873" y="50940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cliawaived.com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7444873" y="534805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C9C9C9"/>
                </a:solidFill>
                <a:latin typeface="Arial"/>
              </a:rPr>
              <a:t>BENCHMARK</a:t>
            </a:r>
          </a:p>
        </p:txBody>
      </p:sp>
      <p:sp>
        <p:nvSpPr>
          <p:cNvPr id="234" name="B234"/>
          <p:cNvSpPr/>
          <p:nvPr/>
        </p:nvSpPr>
        <p:spPr>
          <a:xfrm>
            <a:off x="9603873" y="1360250"/>
            <a:ext cx="2133600" cy="4267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5" name="T235"/>
          <p:cNvSpPr txBox="1"/>
          <p:nvPr/>
        </p:nvSpPr>
        <p:spPr>
          <a:xfrm>
            <a:off x="9756273" y="14872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05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9756273" y="1741250"/>
            <a:ext cx="1828800" cy="55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Absorptive tip</a:t>
            </a:r>
          </a:p>
        </p:txBody>
      </p:sp>
      <p:sp>
        <p:nvSpPr>
          <p:cNvPr id="237" name="T237"/>
          <p:cNvSpPr txBox="1"/>
          <p:nvPr/>
        </p:nvSpPr>
        <p:spPr>
          <a:xfrm>
            <a:off x="9756273" y="23254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>
                <a:solidFill>
                  <a:srgbClr val="A8A8A8"/>
                </a:solidFill>
                <a:latin typeface="Arial"/>
              </a:rPr>
              <a:t>Mitra, Trajan</a:t>
            </a:r>
          </a:p>
        </p:txBody>
      </p:sp>
      <p:sp>
        <p:nvSpPr>
          <p:cNvPr id="239" name="T239"/>
          <p:cNvSpPr txBox="1"/>
          <p:nvPr/>
        </p:nvSpPr>
        <p:spPr>
          <a:xfrm>
            <a:off x="9756273" y="4408250"/>
            <a:ext cx="18288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14300" indent="-114300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10–30 µL in 2–4 s</a:t>
            </a:r>
          </a:p>
        </p:txBody>
      </p:sp>
      <p:sp>
        <p:nvSpPr>
          <p:cNvPr id="240" name="T240"/>
          <p:cNvSpPr txBox="1"/>
          <p:nvPr/>
        </p:nvSpPr>
        <p:spPr>
          <a:xfrm>
            <a:off x="9756273" y="50940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dirty="0" err="1">
                <a:solidFill>
                  <a:srgbClr val="A8A8A8"/>
                </a:solidFill>
                <a:latin typeface="Arial"/>
                <a:hlinkClick r:id="rId3"/>
              </a:rPr>
              <a:t>neoteryx.com</a:t>
            </a:r>
            <a:endParaRPr lang="en-US" sz="1400" dirty="0">
              <a:solidFill>
                <a:srgbClr val="A8A8A8"/>
              </a:solidFill>
              <a:latin typeface="Arial"/>
            </a:endParaRPr>
          </a:p>
        </p:txBody>
      </p:sp>
      <p:sp>
        <p:nvSpPr>
          <p:cNvPr id="241" name="T241"/>
          <p:cNvSpPr txBox="1"/>
          <p:nvPr/>
        </p:nvSpPr>
        <p:spPr>
          <a:xfrm>
            <a:off x="9756273" y="5348050"/>
            <a:ext cx="1828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FFC000"/>
                </a:solidFill>
                <a:latin typeface="Arial"/>
              </a:rPr>
              <a:t>NEW TECH</a:t>
            </a:r>
          </a:p>
        </p:txBody>
      </p:sp>
      <p:cxnSp>
        <p:nvCxnSpPr>
          <p:cNvPr id="242" name="L242"/>
          <p:cNvCxnSpPr/>
          <p:nvPr/>
        </p:nvCxnSpPr>
        <p:spPr>
          <a:xfrm>
            <a:off x="358273" y="5830650"/>
            <a:ext cx="11379200" cy="0"/>
          </a:xfrm>
          <a:prstGeom prst="line">
            <a:avLst/>
          </a:prstGeom>
          <a:ln w="9525">
            <a:solidFill>
              <a:srgbClr val="FFC000"/>
            </a:solidFill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0B3529B-698C-0EAA-7A98-0288C971B4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433826" y="2330797"/>
            <a:ext cx="3179699" cy="19023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FDD30B-4A13-320E-D1E6-64DA4896EA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23673" y="2318044"/>
            <a:ext cx="1501008" cy="1915079"/>
          </a:xfrm>
          <a:prstGeom prst="rect">
            <a:avLst/>
          </a:prstGeom>
        </p:spPr>
      </p:pic>
      <p:pic>
        <p:nvPicPr>
          <p:cNvPr id="4" name="Picture 3" descr="Minivette® -POCT for blood sampling | SARSTEDT">
            <a:extLst>
              <a:ext uri="{FF2B5EF4-FFF2-40B4-BE49-F238E27FC236}">
                <a16:creationId xmlns:a16="http://schemas.microsoft.com/office/drawing/2014/main" id="{78649CF6-6D1E-6B54-1E72-00461F7A6E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983" r="9308"/>
          <a:stretch>
            <a:fillRect/>
          </a:stretch>
        </p:blipFill>
        <p:spPr>
          <a:xfrm>
            <a:off x="5042922" y="2296039"/>
            <a:ext cx="1828800" cy="2265922"/>
          </a:xfrm>
          <a:prstGeom prst="rect">
            <a:avLst/>
          </a:prstGeom>
        </p:spPr>
      </p:pic>
      <p:pic>
        <p:nvPicPr>
          <p:cNvPr id="5" name="Picture 4" descr="MICROSAFE® | Drummond Scientific">
            <a:extLst>
              <a:ext uri="{FF2B5EF4-FFF2-40B4-BE49-F238E27FC236}">
                <a16:creationId xmlns:a16="http://schemas.microsoft.com/office/drawing/2014/main" id="{89C768DF-374A-B9D4-A644-6AB9715C03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848863" y="2670462"/>
            <a:ext cx="1020818" cy="1677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E7E41E-13CF-67B7-7EE1-B9D181F6C68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699500" y="2092538"/>
            <a:ext cx="3961543" cy="265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9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8E0942-B142-0644-A71E-9A9EEAD3FD12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858b45ad-d15d-4163-9aab-4f2f75af986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05886b-6279-443f-99bb-766721a277ca">
      <Terms xmlns="http://schemas.microsoft.com/office/infopath/2007/PartnerControls"/>
    </lcf76f155ced4ddcb4097134ff3c332f>
    <TaxCatchAll xmlns="ba3f873b-c60e-4fa0-a7fb-220a55fd281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D50FC9C72B4941B9D21D4B1D9FF0CB" ma:contentTypeVersion="19" ma:contentTypeDescription="Create a new document." ma:contentTypeScope="" ma:versionID="a51497b9fd042057047f950c2b517e31">
  <xsd:schema xmlns:xsd="http://www.w3.org/2001/XMLSchema" xmlns:xs="http://www.w3.org/2001/XMLSchema" xmlns:p="http://schemas.microsoft.com/office/2006/metadata/properties" xmlns:ns2="ba3f873b-c60e-4fa0-a7fb-220a55fd281c" xmlns:ns3="0305886b-6279-443f-99bb-766721a277ca" targetNamespace="http://schemas.microsoft.com/office/2006/metadata/properties" ma:root="true" ma:fieldsID="e57690d34455a11255093268253fae22" ns2:_="" ns3:_="">
    <xsd:import namespace="ba3f873b-c60e-4fa0-a7fb-220a55fd281c"/>
    <xsd:import namespace="0305886b-6279-443f-99bb-766721a277c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f873b-c60e-4fa0-a7fb-220a55fd281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ccc83e7-9438-434c-b9bd-fc94adeedc68}" ma:internalName="TaxCatchAll" ma:showField="CatchAllData" ma:web="ba3f873b-c60e-4fa0-a7fb-220a55fd28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05886b-6279-443f-99bb-766721a277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97464b9-59c1-49c7-9df7-3fb9333724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8F3E2C-5011-49DD-95A8-E9C1F630B0C9}">
  <ds:schemaRefs>
    <ds:schemaRef ds:uri="0305886b-6279-443f-99bb-766721a277ca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a3f873b-c60e-4fa0-a7fb-220a55fd281c"/>
  </ds:schemaRefs>
</ds:datastoreItem>
</file>

<file path=customXml/itemProps2.xml><?xml version="1.0" encoding="utf-8"?>
<ds:datastoreItem xmlns:ds="http://schemas.openxmlformats.org/officeDocument/2006/customXml" ds:itemID="{18768590-4E21-4186-A48F-B83861C93A0F}">
  <ds:schemaRefs>
    <ds:schemaRef ds:uri="0305886b-6279-443f-99bb-766721a277ca"/>
    <ds:schemaRef ds:uri="ba3f873b-c60e-4fa0-a7fb-220a55fd28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C4C0CDF-0D4B-4FDA-B070-4D007876FC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359</Words>
  <Application>Microsoft Macintosh PowerPoint</Application>
  <PresentationFormat>Widescreen</PresentationFormat>
  <Paragraphs>117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Mahendra Mehta</dc:creator>
  <cp:lastModifiedBy>Indu Bilaney</cp:lastModifiedBy>
  <cp:revision>2</cp:revision>
  <dcterms:created xsi:type="dcterms:W3CDTF">2026-05-27T09:57:54Z</dcterms:created>
  <dcterms:modified xsi:type="dcterms:W3CDTF">2026-09-21T13:35:18Z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0x010100F3D50FC9C72B4941B9D21D4B1D9FF0CB</vt:lpwstr>
  </property>
  <property fmtid="{D5CDD505-2E9C-101B-9397-08002B2CF9AE}" pid="3" name="MediaServiceImageTags">
    <vt:lpwstr/>
  </property>
</Properties>
</file>